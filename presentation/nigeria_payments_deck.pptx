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REPORT  •  APRIL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041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Obakoya Iyanujesu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43342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6217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Behavior Patterns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Nigeria's Digital Payment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Banking, Merchant Adoption, and the Next Wave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Digital Financial Inclusion in Nigeria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CBN Payment System Statistics (2009–2025)  •  EFInA Access to Finance Survey 2023  •  World Bank Findex 2021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1188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15,500×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POS transactions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2009 → Jun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74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country. Two realities.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977640" cy="2377440"/>
          </a:xfrm>
          <a:prstGeom prst="rect">
            <a:avLst/>
          </a:prstGeom>
          <a:solidFill>
            <a:srgbClr val="EEEDFE"/>
          </a:solidFill>
          <a:ln w="1016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397764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 BILLION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transactions processed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month in June 2025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3977640" cy="36576"/>
          </a:xfrm>
          <a:prstGeom prst="rect">
            <a:avLst/>
          </a:prstGeom>
          <a:solidFill>
            <a:srgbClr val="DDDDEE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62656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89,349 in January 2009.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15,500-fold increase in 16 years.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3977640" cy="2377440"/>
          </a:xfrm>
          <a:prstGeom prst="rect">
            <a:avLst/>
          </a:prstGeom>
          <a:solidFill>
            <a:srgbClr val="FFF8EC"/>
          </a:solidFill>
          <a:ln w="1016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463040"/>
            <a:ext cx="397764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60020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payments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37760" y="230428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involved cash at point of purchase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(EFInA 2023 — pre-full normalisation)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880360"/>
            <a:ext cx="3977640" cy="36576"/>
          </a:xfrm>
          <a:prstGeom prst="rect">
            <a:avLst/>
          </a:prstGeom>
          <a:solidFill>
            <a:srgbClr val="EEEECC"/>
          </a:solidFill>
          <a:ln w="12700">
            <a:solidFill>
              <a:srgbClr val="EEEE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962656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lower by 2026 — sustained POS growth through 2025 signals continued cash-to-digital conversion, particularly in urban markets.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8412480" cy="713232"/>
          </a:xfrm>
          <a:prstGeom prst="rect">
            <a:avLst/>
          </a:prstGeom>
          <a:solidFill>
            <a:srgbClr val="E1F5EE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4164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Nigeria's payment data tell us about where the next wave of digital adoption will come from, what will trigger it, and what is blocking it?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Obakoya Iyanujesu  |  Transaction Behavior Patterns in Nigeria's Digital Payment Ecosystem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74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THE TRANSACTION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years. Three phases. One structural shift.</a:t>
            </a:r>
            <a:endParaRPr lang="en-US" sz="2200" dirty="0"/>
          </a:p>
        </p:txBody>
      </p:sp>
      <p:pic>
        <p:nvPicPr>
          <p:cNvPr id="5" name="Image 0" descr="/mnt/user-data/uploads/chart1_pos_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98448"/>
            <a:ext cx="859536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Obakoya Iyanujesu  |  Transaction Behavior Patterns in Nigeria's Digital Payment Ecosystem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74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THE TRANSACTION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surge had a different driver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3291840"/>
          </a:xfrm>
          <a:prstGeom prst="rect">
            <a:avLst/>
          </a:prstGeom>
          <a:solidFill>
            <a:srgbClr val="FAFAF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52928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CBN Cashless Policy mandated POS acceptance. Slow, steady, urban-concentrated. Monthly volumes grew from 89K to 78M.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743200" cy="3291840"/>
          </a:xfrm>
          <a:prstGeom prst="rect">
            <a:avLst/>
          </a:prstGeom>
          <a:solidFill>
            <a:srgbClr val="FAFAF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71600"/>
            <a:ext cx="274320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508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Infrastructure-driven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2852928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banking reached critical density. Monthly volumes doubled in one month: 78M → 167M. The network effect kicked 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2743200" cy="3291840"/>
          </a:xfrm>
          <a:prstGeom prst="rect">
            <a:avLst/>
          </a:prstGeom>
          <a:solidFill>
            <a:srgbClr val="FAFAF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371600"/>
            <a:ext cx="274320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508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Crisis-driven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0" y="2852928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Naira redesign removed cash from circulation. POS volumes hit 1.22B in March 2023 — and never retreated. Crisis became habit.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Obakoya Iyanujesu  |  Transaction Behavior Patterns in Nigeria's Digital Payment Ecosystem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74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THE TRANSACTION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was wide, not deep — a signal of new user adoption</a:t>
            </a:r>
            <a:endParaRPr lang="en-US" sz="2200" dirty="0"/>
          </a:p>
        </p:txBody>
      </p:sp>
      <p:pic>
        <p:nvPicPr>
          <p:cNvPr id="5" name="Image 0" descr="/mnt/user-data/uploads/chart2_avg_trans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98448"/>
            <a:ext cx="566928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298448"/>
            <a:ext cx="2743200" cy="3291840"/>
          </a:xfrm>
          <a:prstGeom prst="rect">
            <a:avLst/>
          </a:prstGeom>
          <a:solidFill>
            <a:srgbClr val="E1F5EE"/>
          </a:solidFill>
          <a:ln w="1016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63640" y="14630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63640" y="21031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 size barely moved over 16 years — from ₦16,117 to ₦18,509.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63640" y="29443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growth came from millions of new users, not from existing users spending more.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63640" y="3886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reached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micro-merchants.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Obakoya Iyanujesu  |  Transaction Behavior Patterns in Nigeria's Digital Payment Ecosystem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74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THE MERCHANT BEHAVIOR STORY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banking built the infrastructure that made adoption permanent</a:t>
            </a:r>
            <a:endParaRPr lang="en-US" sz="2200" dirty="0"/>
          </a:p>
        </p:txBody>
      </p:sp>
      <p:pic>
        <p:nvPicPr>
          <p:cNvPr id="5" name="Image 0" descr="/mnt/user-data/uploads/chart4_agent_pos_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98448"/>
            <a:ext cx="859536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Obakoya Iyanujesu  |  Transaction Behavior Patterns in Nigeria's Digital Payment Ecosystem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74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THE MERCHANT BEHAVIOR STORY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is three digital payment markets operating simultaneously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3383280"/>
          </a:xfrm>
          <a:prstGeom prst="rect">
            <a:avLst/>
          </a:prstGeom>
          <a:solidFill>
            <a:srgbClr val="FFF8EC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—  Cash-dominant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33–38%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rate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North-West, North-East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NW adults excluded. 18.7M people across 2 zones are the most under-served. Sporadic POS use, low agent density.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2468880" cy="36576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33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untapped opportunity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743200" cy="338328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—  Transition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9019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337560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rate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North-Central, parts of South-East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0906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networks expanding. Rural-urban gap narrowed from 30pts to 20pts 2020–2023. Infrastructure arriving faster than behavior.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4069080"/>
            <a:ext cx="2468880" cy="3657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4133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frontier — invest now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371600"/>
            <a:ext cx="2743200" cy="338328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1371600"/>
            <a:ext cx="27432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—  Digital-first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19019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90–98%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217920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South-West, South-South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0906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at 98% formal inclusion. POS is expected, not novel. Competition shifts from access to product depth and credit.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4069080"/>
            <a:ext cx="246888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4133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Deepen, don't expand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Obakoya Iyanujesu  |  Transaction Behavior Patterns in Nigeria's Digital Payment Ecosystem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2023 crisis answered the most important question in Nigerian fintech: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people switch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digital payments permanently?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395728"/>
            <a:ext cx="2606040" cy="2331720"/>
          </a:xfrm>
          <a:prstGeom prst="rect">
            <a:avLst/>
          </a:prstGeom>
          <a:solidFill>
            <a:srgbClr val="252540"/>
          </a:solidFill>
          <a:ln w="10160">
            <a:solidFill>
              <a:srgbClr val="D85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395728"/>
            <a:ext cx="260604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5237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USAGE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944368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disappeared overnight. 2.8x POS surge in 8 weeks.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2395728"/>
            <a:ext cx="2606040" cy="2331720"/>
          </a:xfrm>
          <a:prstGeom prst="rect">
            <a:avLst/>
          </a:prstGeom>
          <a:solidFill>
            <a:srgbClr val="252540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395728"/>
            <a:ext cx="260604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5237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2944368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 networks existed, the behavior stuck. Where they didn't, users reverted.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395728"/>
            <a:ext cx="2606040" cy="2331720"/>
          </a:xfrm>
          <a:prstGeom prst="rect">
            <a:avLst/>
          </a:prstGeom>
          <a:solidFill>
            <a:srgbClr val="252540"/>
          </a:solidFill>
          <a:ln w="10160">
            <a:solidFill>
              <a:srgbClr val="534A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395728"/>
            <a:ext cx="260604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5237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SHIFT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2944368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volumes stabilized above 1 billion. 2024 saw 13B annual transactions vs 660M in 2020.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Infrastructure density is the prerequisite for durable adoption. Build the network first. The behavior follows.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74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THE INCLUSION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has been solved. Depth has not.</a:t>
            </a:r>
            <a:endParaRPr lang="en-US" sz="2200" dirty="0"/>
          </a:p>
        </p:txBody>
      </p:sp>
      <p:pic>
        <p:nvPicPr>
          <p:cNvPr id="5" name="Image 0" descr="/mnt/user-data/uploads/chart5_inclusion_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98448"/>
            <a:ext cx="859536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Obakoya Iyanujesu  |  Transaction Behavior Patterns in Nigeria's Digital Payment Ecosystem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74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THE INCLUSION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barriers stand between access and genuine financial participation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005840"/>
          </a:xfrm>
          <a:prstGeom prst="rect">
            <a:avLst/>
          </a:prstGeom>
          <a:solidFill>
            <a:srgbClr val="FAFA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10058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1481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transactional account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84708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million adults cannot independently send or receive digital payments. Agent access is not the same as account ownership.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8412480" cy="1005840"/>
          </a:xfrm>
          <a:prstGeom prst="rect">
            <a:avLst/>
          </a:prstGeom>
          <a:solidFill>
            <a:srgbClr val="FAFA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87168"/>
            <a:ext cx="64008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7860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20240" y="2596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receive income in cash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2962656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income arrives in cash, digital payments remain supplementary not primary. Income formalization is the missing bridge.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8412480" cy="1005840"/>
          </a:xfrm>
          <a:prstGeom prst="rect">
            <a:avLst/>
          </a:prstGeom>
          <a:solidFill>
            <a:srgbClr val="FAFA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02736"/>
            <a:ext cx="64008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94176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920240" y="37124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under ₦100,000/month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4078224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irregular income makes formal account ownership feel impractical. Products must work for ₦5,000 float sizes, not ₦50,000.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Obakoya Iyanujesu  |  Transaction Behavior Patterns in Nigeria's Digital Payment Ecosystem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findings mean for Nigeria's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agent-led financial services operators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229600" cy="896112"/>
          </a:xfrm>
          <a:prstGeom prst="rect">
            <a:avLst/>
          </a:prstGeom>
          <a:solidFill>
            <a:srgbClr val="252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64008" cy="8961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56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growth?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2037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markets now. North-Central and peri-urban South-East have growing infrastructure but under-served merchant populations. Invest in agent density there before Stage 2 becomes Stage 3.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70632"/>
            <a:ext cx="8229600" cy="896112"/>
          </a:xfrm>
          <a:prstGeom prst="rect">
            <a:avLst/>
          </a:prstGeom>
          <a:solidFill>
            <a:srgbClr val="252540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70632"/>
            <a:ext cx="64008" cy="8961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437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triggers adoption?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319125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+ forcing event. The 2023 data proved that where agent networks are present, crisis converts to habit. Create the infrastructure. Let triggers — income, payments, credit — do the conversion.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58184"/>
            <a:ext cx="8229600" cy="896112"/>
          </a:xfrm>
          <a:prstGeom prst="rect">
            <a:avLst/>
          </a:prstGeom>
          <a:solidFill>
            <a:srgbClr val="252540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758184"/>
            <a:ext cx="64008" cy="89611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8313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removes the barrier?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1788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account for the 47%. The depth problem is not distribution — agents have reached 60M people. It is product design for irregular income: flexible onboarding, zero-balance accounts, micro-credit from Day 1.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problem is solved.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is the frontier.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POS ecosystem grew 15,500× in 16 years by solving the access problem. The next 10 years belong to whoever solves the depth problem — designing products that convert 52 million agent-reached Nigerians from the edge of the financial system into its functioning core.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3749040"/>
            <a:ext cx="2103120" cy="1005840"/>
          </a:xfrm>
          <a:prstGeom prst="rect">
            <a:avLst/>
          </a:prstGeom>
          <a:solidFill>
            <a:srgbClr val="252540"/>
          </a:solidFill>
          <a:ln w="1016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8221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4315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transactions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66160" y="3749040"/>
            <a:ext cx="2103120" cy="1005840"/>
          </a:xfrm>
          <a:prstGeom prst="rect">
            <a:avLst/>
          </a:prstGeom>
          <a:solidFill>
            <a:srgbClr val="252540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8221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0" y="4315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reached by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banking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3749040"/>
            <a:ext cx="2103120" cy="1005840"/>
          </a:xfrm>
          <a:prstGeom prst="rect">
            <a:avLst/>
          </a:prstGeom>
          <a:solidFill>
            <a:srgbClr val="252540"/>
          </a:solidFill>
          <a:ln w="1016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8221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4315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with no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account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CBN Payment System Statistics (2009–2025) • EFInA Access to Finance Survey 2023 • World Bank Findex 2021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Behavior Patterns in Nigeria's Digital Payment Ecosystem</dc:title>
  <dc:subject>PptxGenJS Presentation</dc:subject>
  <dc:creator>PptxGenJS</dc:creator>
  <cp:lastModifiedBy>PptxGenJS</cp:lastModifiedBy>
  <cp:revision>1</cp:revision>
  <dcterms:created xsi:type="dcterms:W3CDTF">2026-04-03T12:17:33Z</dcterms:created>
  <dcterms:modified xsi:type="dcterms:W3CDTF">2026-04-03T12:17:33Z</dcterms:modified>
</cp:coreProperties>
</file>